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142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2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14400" y="10972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1161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1097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RecipeBuilder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Company Profile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520440"/>
            <a:ext cx="1371600" cy="50800"/>
          </a:xfrm>
          <a:prstGeom prst="rect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3749039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4A3B8"/>
                </a:solidFill>
                <a:latin typeface="Calibri"/>
              </a:defRPr>
            </a:pPr>
            <a:r>
              <a:t>The Complete Recipe Management &amp; Food Labeling</a:t>
            </a:r>
            <a:br/>
            <a:r>
              <a:t>Platform for GCC Food Businesses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69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 product by ByteBeam  |  Dubai, UAE  |  Riyadh, Saudi Arabia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6692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recipebuilder.bytebeam.co  |  info@bytebeam.co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6634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141F38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736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5,000+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47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Labels Approved by</a:t>
            </a:r>
            <a:br/>
            <a:r>
              <a:t>Dubai Municipality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0" y="46634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141F38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4736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20,000+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0" y="5047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FDA-Sourced</a:t>
            </a:r>
            <a:br/>
            <a:r>
              <a:t>Ingredients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46634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141F38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0" y="4736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GCC &amp; SFDA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5047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Regulatory</a:t>
            </a:r>
            <a:br/>
            <a:r>
              <a:t>Compliance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95359" y="4663440"/>
            <a:ext cx="2286000" cy="822960"/>
          </a:xfrm>
          <a:prstGeom prst="roundRect">
            <a:avLst>
              <a:gd name="adj" fmla="val 10000"/>
            </a:avLst>
          </a:prstGeom>
          <a:solidFill>
            <a:srgbClr val="141F38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39" y="473659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Bilingual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39" y="50474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English &amp; Arabic</a:t>
            </a:r>
            <a:br/>
            <a:r>
              <a:t>Labels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82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914400" cy="50800"/>
          </a:xfrm>
          <a:prstGeom prst="rect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120"/>
                </a:solidFill>
                <a:latin typeface="Calibri"/>
              </a:defRPr>
            </a:pPr>
            <a:r>
              <a:t>Food Labeling in the GCC Is Broken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Food businesses across the Gulf face a fragmented, expensive, and slow process to produce compliant food labels.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493776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971800"/>
            <a:ext cx="411480" cy="41148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9992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120"/>
                </a:solidFill>
                <a:latin typeface="Calibri"/>
              </a:defRPr>
            </a:pPr>
            <a:r>
              <a:t>Slow &amp; Expensive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3756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Traditional lab testing takes weeks per product and costs hundreds of dirhams per label. Scaling to dozens of products is unsustainable.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493776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971800"/>
            <a:ext cx="411480" cy="41148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9992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926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120"/>
                </a:solidFill>
                <a:latin typeface="Calibri"/>
              </a:defRPr>
            </a:pPr>
            <a:r>
              <a:t>Manual &amp; Error-Prone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Spreadsheets and manual calculations lead to nutrition errors, mistranslations, and labels that fail regulatory review.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72000"/>
            <a:ext cx="493776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3000" y="4800600"/>
            <a:ext cx="411480" cy="41148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48280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754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120"/>
                </a:solidFill>
                <a:latin typeface="Calibri"/>
              </a:defRPr>
            </a:pPr>
            <a:r>
              <a:t>Fragmented Workflow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16636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Recipe management, nutrition analysis, label design, translation, and inventory live in separate tools — creating data silos and duplication.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572000"/>
            <a:ext cx="4937760" cy="15544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4800600"/>
            <a:ext cx="411480" cy="41148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8280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F444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54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120"/>
                </a:solidFill>
                <a:latin typeface="Calibri"/>
              </a:defRPr>
            </a:pPr>
            <a:r>
              <a:t>Complex Regulations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516636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GCC &amp; SFDA labeling laws require bilingual text, specific nutrition formats, allergen declarations, and storage instructions — all precisely formatted.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82FF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914400" cy="50800"/>
          </a:xfrm>
          <a:prstGeom prst="rect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120"/>
                </a:solidFill>
                <a:latin typeface="Calibri"/>
              </a:defRPr>
            </a:pPr>
            <a:r>
              <a:t>RecipeBuilder: One Platform. Every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Calibri"/>
              </a:defRPr>
            </a:pPr>
            <a:r>
              <a:t>From recipe creation to compliant food labels — automated, accurate, and built for the GCC.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2880360"/>
            <a:ext cx="109728" cy="109728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120"/>
                </a:solidFill>
                <a:latin typeface="Calibri"/>
              </a:defRPr>
            </a:pPr>
            <a:r>
              <a:t>Recipe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Build and organize recipes with full ingredient breakdowns, portion sizing, preparation methods, and allergen tracking.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6517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160" y="2880360"/>
            <a:ext cx="109728" cy="109728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6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120"/>
                </a:solidFill>
                <a:latin typeface="Calibri"/>
              </a:defRPr>
            </a:pPr>
            <a:r>
              <a:t>Nutrition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2004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Auto-calculate nutrition from 20,000+ FDA-sourced ingredients. Per-serving calories, macros, micros — no manual entry.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0" y="2880360"/>
            <a:ext cx="109728" cy="109728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120"/>
                </a:solidFill>
                <a:latin typeface="Calibri"/>
              </a:defRPr>
            </a:pPr>
            <a:r>
              <a:t>Food Labeling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Auto-generate bilingual packaging artwork with nutrition facts, ingredients, allergen declarations, and storage instructions.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560" y="265176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35440" y="2880360"/>
            <a:ext cx="109728" cy="109728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120"/>
                </a:solidFill>
                <a:latin typeface="Calibri"/>
              </a:defRPr>
            </a:pPr>
            <a:r>
              <a:t>Barcode 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20040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Unique barcode per recipe for product identification, retail tracking, and POS integration. Print-ready on every label.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6634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892040"/>
            <a:ext cx="109728" cy="109728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120"/>
                </a:solidFill>
                <a:latin typeface="Calibri"/>
              </a:defRPr>
            </a:pPr>
            <a:r>
              <a:t>QR Code 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2120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Scannable QR codes linking to live nutrition info pages. Customers scan to view detailed nutritional data instantly.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6634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66160" y="4892040"/>
            <a:ext cx="109728" cy="109728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6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120"/>
                </a:solidFill>
                <a:latin typeface="Calibri"/>
              </a:defRPr>
            </a:pPr>
            <a:r>
              <a:t>Cost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2120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Track ingredient costs, yield, per-serving cost, VAT, labor, packaging, wastage, and aggregator commissions.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6634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892040"/>
            <a:ext cx="109728" cy="109728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120"/>
                </a:solidFill>
                <a:latin typeface="Calibri"/>
              </a:defRPr>
            </a:pPr>
            <a:r>
              <a:t>Inventory Management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2120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Real-time stock tracking with one-click portion updates. Monitor production schedules and prevent stockouts.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52560" y="4663440"/>
            <a:ext cx="2606040" cy="17830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35440" y="4892040"/>
            <a:ext cx="109728" cy="109728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120"/>
                </a:solidFill>
                <a:latin typeface="Calibri"/>
              </a:defRPr>
            </a:pPr>
            <a:r>
              <a:t>AI Translation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5212080"/>
            <a:ext cx="2240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Automatic English-to-Arabic translation of ingredient lists and label text — formatted for bilingual packaging artwork.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8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914400"/>
            <a:ext cx="914400" cy="50800"/>
          </a:xfrm>
          <a:prstGeom prst="rect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051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From Recipe to Label in Minutes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2286000"/>
            <a:ext cx="3200400" cy="365760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88720" y="2651760"/>
            <a:ext cx="640080" cy="640080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27157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160520" y="3840480"/>
            <a:ext cx="320040" cy="274320"/>
          </a:xfrm>
          <a:prstGeom prst="rightArrow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Create Your Recipe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1148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Add ingredients from the USDA database, set quantities and units, define preparation methods, calculate costs, and upload cover photos. Organize recipes into categories.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2286000"/>
            <a:ext cx="3200400" cy="365760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54880" y="2651760"/>
            <a:ext cx="640080" cy="640080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7157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7726680" y="3840480"/>
            <a:ext cx="320040" cy="274320"/>
          </a:xfrm>
          <a:prstGeom prst="rightArrow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Auto-Generate Everything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1148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Nutrition facts, bilingual packaging artwork, barcodes, QR codes, allergen declarations, and storage instructions — all generated automatically from your recipe data.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2286000"/>
            <a:ext cx="3200400" cy="365760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21040" y="2651760"/>
            <a:ext cx="640080" cy="640080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2715768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35661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Export &amp; Manage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1148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Download labels as PNG or PDF. Track real-time inventory, monitor ingredient costs and profit margins, and manage your entire recipe catalog from one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82FF"/>
                </a:solidFill>
                <a:latin typeface="Calibri"/>
              </a:defRPr>
            </a:pPr>
            <a:r>
              <a:t>COMPETITIVE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914400" cy="50800"/>
          </a:xfrm>
          <a:prstGeom prst="rect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120"/>
                </a:solidFill>
                <a:latin typeface="Calibri"/>
              </a:defRPr>
            </a:pPr>
            <a:r>
              <a:t>RecipeBuilder vs. The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848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120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Calibri"/>
              </a:defRPr>
            </a:pPr>
            <a:r>
              <a:t>Lab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Calibri"/>
              </a:defRPr>
            </a:pPr>
            <a:r>
              <a:t>Spreadsheets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0848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Calibri"/>
              </a:defRPr>
            </a:pPr>
            <a:r>
              <a:t>NutriCal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011680"/>
            <a:ext cx="2194560" cy="457200"/>
          </a:xfrm>
          <a:prstGeom prst="roundRect">
            <a:avLst>
              <a:gd name="adj" fmla="val 6000"/>
            </a:avLst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0" y="20848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RecipeBuilder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4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Hours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51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Minutes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Minutes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Ingredient 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017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017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017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40,000+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017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20,000+ FDA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3756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3832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GCC/SFDA Compliance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3383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Manual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383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Not built-in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383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3832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70332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49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Bilingual Labels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749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Manual translation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3749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7490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3749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475569"/>
                </a:solidFill>
                <a:latin typeface="Calibri"/>
              </a:defRPr>
            </a:pPr>
            <a:r>
              <a:t>AI-Powered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06908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114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Barcode per Recipe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8328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114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1148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82FF"/>
                </a:solidFill>
                <a:latin typeface="Calibri"/>
              </a:defRPr>
            </a:pPr>
            <a:r>
              <a:t>Yes 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43484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480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QR Code Nutrition Link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80" y="4480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4480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4805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4805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82FF"/>
                </a:solidFill>
                <a:latin typeface="Calibri"/>
              </a:defRPr>
            </a:pPr>
            <a:r>
              <a:t>Yes 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80060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4846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Localized Packaging Label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8328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Separate design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846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Basic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46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82FF"/>
                </a:solidFill>
                <a:latin typeface="Calibri"/>
              </a:defRPr>
            </a:pPr>
            <a:r>
              <a:t>Full Artwork ✓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516636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" y="52120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Cost &amp; Profit Analysis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8328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5212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44000" y="52120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82FF"/>
                </a:solidFill>
                <a:latin typeface="Calibri"/>
              </a:defRPr>
            </a:pPr>
            <a:r>
              <a:t>Advanced ✓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553212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" y="5577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Inventory Management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83280" y="5577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0" y="5577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Manual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5577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44000" y="55778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82FF"/>
                </a:solidFill>
                <a:latin typeface="Calibri"/>
              </a:defRPr>
            </a:pPr>
            <a:r>
              <a:t>Real-time ✓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589788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60" y="59436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AI Translation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383280" y="5943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03520" y="5943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0" y="59436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144000" y="5943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82FF"/>
                </a:solidFill>
                <a:latin typeface="Calibri"/>
              </a:defRPr>
            </a:pPr>
            <a:r>
              <a:t>Yes ✓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6263640"/>
            <a:ext cx="10515600" cy="36576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6309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Packaging Artwork Export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83280" y="6309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03520" y="6309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23760" y="63093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475569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144000" y="6309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82FF"/>
                </a:solidFill>
                <a:latin typeface="Calibri"/>
              </a:defRPr>
            </a:pPr>
            <a:r>
              <a:t>PNG &amp; PDF 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82FF"/>
                </a:solidFill>
                <a:latin typeface="Calibri"/>
              </a:defRPr>
            </a:pPr>
            <a:r>
              <a:t>INDUSTRIES WE SERVE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914400" cy="50800"/>
          </a:xfrm>
          <a:prstGeom prst="rect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120"/>
                </a:solidFill>
                <a:latin typeface="Calibri"/>
              </a:defRPr>
            </a:pPr>
            <a:r>
              <a:t>Built for Every Food Business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9377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4937760" cy="50800"/>
          </a:xfrm>
          <a:prstGeom prst="roundRect">
            <a:avLst>
              <a:gd name="adj" fmla="val 0"/>
            </a:avLst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120"/>
                </a:solidFill>
                <a:latin typeface="Calibri"/>
              </a:defRPr>
            </a:pPr>
            <a:r>
              <a:t>Restaurants, Cafes &amp; Hotels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Manage full menus with accurate nutrition data. Generate labels for packaged items, track recipe costs per serving, and ensure compliance for dine-in and delivery.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33756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Menu nutrition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3383279" y="333756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Packaged item labeling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365760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593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Cost per serving tracking</a:t>
            </a:r>
          </a:p>
        </p:txBody>
      </p:sp>
      <p:sp>
        <p:nvSpPr>
          <p:cNvPr id="15" name="Oval 14"/>
          <p:cNvSpPr/>
          <p:nvPr/>
        </p:nvSpPr>
        <p:spPr>
          <a:xfrm>
            <a:off x="3383279" y="365760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3593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Multi-branch consistency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011680"/>
            <a:ext cx="49377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4937760" cy="50800"/>
          </a:xfrm>
          <a:prstGeom prst="roundRect">
            <a:avLst>
              <a:gd name="adj" fmla="val 0"/>
            </a:avLst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120"/>
                </a:solidFill>
                <a:latin typeface="Calibri"/>
              </a:defRPr>
            </a:pPr>
            <a:r>
              <a:t>Food Manufacturers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5603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Scale labeling for production lines. Auto-generate compliant packaging artwork with barcodes for retail and maintain consistency across product ranges.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333756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Retail-ready barcodes</a:t>
            </a:r>
          </a:p>
        </p:txBody>
      </p:sp>
      <p:sp>
        <p:nvSpPr>
          <p:cNvPr id="23" name="Oval 22"/>
          <p:cNvSpPr/>
          <p:nvPr/>
        </p:nvSpPr>
        <p:spPr>
          <a:xfrm>
            <a:off x="8686799" y="333756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3959" y="32735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Batch packaging artwork</a:t>
            </a:r>
          </a:p>
        </p:txBody>
      </p:sp>
      <p:sp>
        <p:nvSpPr>
          <p:cNvPr id="25" name="Oval 24"/>
          <p:cNvSpPr/>
          <p:nvPr/>
        </p:nvSpPr>
        <p:spPr>
          <a:xfrm>
            <a:off x="6492240" y="365760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3593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Production inventory</a:t>
            </a:r>
          </a:p>
        </p:txBody>
      </p:sp>
      <p:sp>
        <p:nvSpPr>
          <p:cNvPr id="27" name="Oval 26"/>
          <p:cNvSpPr/>
          <p:nvPr/>
        </p:nvSpPr>
        <p:spPr>
          <a:xfrm>
            <a:off x="8686799" y="365760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23959" y="35935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Product line management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4389120"/>
            <a:ext cx="49377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4389120"/>
            <a:ext cx="4937760" cy="50800"/>
          </a:xfrm>
          <a:prstGeom prst="roundRect">
            <a:avLst>
              <a:gd name="adj" fmla="val 0"/>
            </a:avLst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120"/>
                </a:solidFill>
                <a:latin typeface="Calibri"/>
              </a:defRPr>
            </a:pPr>
            <a:r>
              <a:t>Bakeries &amp; Catering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4937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Professional labels for every product. Track ingredient costs per portion, manage allergen declarations, and handle seasonal menu changes.</a:t>
            </a:r>
          </a:p>
        </p:txBody>
      </p:sp>
      <p:sp>
        <p:nvSpPr>
          <p:cNvPr id="33" name="Oval 32"/>
          <p:cNvSpPr/>
          <p:nvPr/>
        </p:nvSpPr>
        <p:spPr>
          <a:xfrm>
            <a:off x="1188720" y="571500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25880" y="56509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Per-portion cost analysis</a:t>
            </a:r>
          </a:p>
        </p:txBody>
      </p:sp>
      <p:sp>
        <p:nvSpPr>
          <p:cNvPr id="35" name="Oval 34"/>
          <p:cNvSpPr/>
          <p:nvPr/>
        </p:nvSpPr>
        <p:spPr>
          <a:xfrm>
            <a:off x="3383279" y="571500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39" y="56509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Allergen declarations</a:t>
            </a:r>
          </a:p>
        </p:txBody>
      </p:sp>
      <p:sp>
        <p:nvSpPr>
          <p:cNvPr id="37" name="Oval 36"/>
          <p:cNvSpPr/>
          <p:nvPr/>
        </p:nvSpPr>
        <p:spPr>
          <a:xfrm>
            <a:off x="1188720" y="603504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25880" y="5971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Custom packaging labels</a:t>
            </a:r>
          </a:p>
        </p:txBody>
      </p:sp>
      <p:sp>
        <p:nvSpPr>
          <p:cNvPr id="39" name="Oval 38"/>
          <p:cNvSpPr/>
          <p:nvPr/>
        </p:nvSpPr>
        <p:spPr>
          <a:xfrm>
            <a:off x="3383279" y="603504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39" y="5971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Seasonal recipe management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389120"/>
            <a:ext cx="4937760" cy="21031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17920" y="4389120"/>
            <a:ext cx="4937760" cy="50800"/>
          </a:xfrm>
          <a:prstGeom prst="roundRect">
            <a:avLst>
              <a:gd name="adj" fmla="val 0"/>
            </a:avLst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4572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1120"/>
                </a:solidFill>
                <a:latin typeface="Calibri"/>
              </a:defRPr>
            </a:pPr>
            <a:r>
              <a:t>Nutrition &amp; Meal Plan Companies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9377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Build meal plans with precise nutrition data. Generate client-facing nutrition labels, track macros per serving, and maintain dietary compliance.</a:t>
            </a:r>
          </a:p>
        </p:txBody>
      </p:sp>
      <p:sp>
        <p:nvSpPr>
          <p:cNvPr id="45" name="Oval 44"/>
          <p:cNvSpPr/>
          <p:nvPr/>
        </p:nvSpPr>
        <p:spPr>
          <a:xfrm>
            <a:off x="6492240" y="571500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56509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Macro nutrient breakdown</a:t>
            </a:r>
          </a:p>
        </p:txBody>
      </p:sp>
      <p:sp>
        <p:nvSpPr>
          <p:cNvPr id="47" name="Oval 46"/>
          <p:cNvSpPr/>
          <p:nvPr/>
        </p:nvSpPr>
        <p:spPr>
          <a:xfrm>
            <a:off x="8686799" y="571500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23959" y="565099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Traffic light labels</a:t>
            </a:r>
          </a:p>
        </p:txBody>
      </p:sp>
      <p:sp>
        <p:nvSpPr>
          <p:cNvPr id="49" name="Oval 48"/>
          <p:cNvSpPr/>
          <p:nvPr/>
        </p:nvSpPr>
        <p:spPr>
          <a:xfrm>
            <a:off x="6492240" y="603504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5971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Meal plan management</a:t>
            </a:r>
          </a:p>
        </p:txBody>
      </p:sp>
      <p:sp>
        <p:nvSpPr>
          <p:cNvPr id="51" name="Oval 50"/>
          <p:cNvSpPr/>
          <p:nvPr/>
        </p:nvSpPr>
        <p:spPr>
          <a:xfrm>
            <a:off x="8686799" y="6035040"/>
            <a:ext cx="73152" cy="73152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823959" y="59710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Calibri"/>
              </a:defRPr>
            </a:pPr>
            <a:r>
              <a:t>Client nutrition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8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82FF"/>
                </a:solidFill>
                <a:latin typeface="Calibri"/>
              </a:defRPr>
            </a:pPr>
            <a:r>
              <a:t>WHY THE GCC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914400"/>
            <a:ext cx="914400" cy="50800"/>
          </a:xfrm>
          <a:prstGeom prst="rect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051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Purpose-Built for the Gulf Market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The GCC has unique food labeling requirements that generic global tools cannot address.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256032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2834640"/>
            <a:ext cx="457200" cy="457200"/>
          </a:xfrm>
          <a:prstGeom prst="ellipse">
            <a:avLst/>
          </a:prstGeom>
          <a:solidFill>
            <a:srgbClr val="1A325C"/>
          </a:solidFill>
          <a:ln w="19050">
            <a:solidFill>
              <a:srgbClr val="27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28986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82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Strict Regulations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200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SFDA, Dubai Municipality, and GSO enforce detailed labeling laws. Every packaged food product must display accurate nutrition, ingredients, and allergens in the correct format.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56032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92240" y="2834640"/>
            <a:ext cx="457200" cy="457200"/>
          </a:xfrm>
          <a:prstGeom prst="ellipse">
            <a:avLst/>
          </a:prstGeom>
          <a:solidFill>
            <a:srgbClr val="1A325C"/>
          </a:solidFill>
          <a:ln w="19050">
            <a:solidFill>
              <a:srgbClr val="27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289864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82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Bilingual Requirements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32004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Labels must include both English and Arabic — properly formatted and translated. RecipeBuilder handles this automatically with AI-powered translation.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48056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88720" y="4754880"/>
            <a:ext cx="457200" cy="457200"/>
          </a:xfrm>
          <a:prstGeom prst="ellipse">
            <a:avLst/>
          </a:prstGeom>
          <a:solidFill>
            <a:srgbClr val="1A325C"/>
          </a:solidFill>
          <a:ln w="19050">
            <a:solidFill>
              <a:srgbClr val="27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88720" y="48188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82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4709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Fast-Growing Market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512064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The GCC F&amp;B industry is expanding rapidly. New restaurants, manufacturers, and food brands need efficient tools to meet labeling requirements from day one.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480560"/>
            <a:ext cx="4937760" cy="164592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92240" y="4754880"/>
            <a:ext cx="457200" cy="457200"/>
          </a:xfrm>
          <a:prstGeom prst="ellipse">
            <a:avLst/>
          </a:prstGeom>
          <a:solidFill>
            <a:srgbClr val="1A325C"/>
          </a:solidFill>
          <a:ln w="19050">
            <a:solidFill>
              <a:srgbClr val="27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818888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782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4709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6 Countries Served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512064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UAE, Saudi Arabia, Bahrain, Kuwait, Oman, and Qatar. Each has specific regulatory bodies and requirements — RecipeBuilder covers them all.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82FF"/>
                </a:solidFill>
                <a:latin typeface="Calibri"/>
              </a:defRPr>
            </a:pPr>
            <a:r>
              <a:t>OUR STORY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914400" cy="50800"/>
          </a:xfrm>
          <a:prstGeom prst="rect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120"/>
                </a:solidFill>
                <a:latin typeface="Calibri"/>
              </a:defRPr>
            </a:pPr>
            <a:r>
              <a:t>From Document AI to Food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Calibri"/>
              </a:defRPr>
            </a:pPr>
            <a:r>
              <a:t>RecipeBuilder is built by ByteBeam, a technology company headquartered in Dubai, UAE. ByteBeam started as an AI-powered document processing company, building solutions that extract, structure, and analyze data from complex documents.</a:t>
            </a:r>
            <a:br/>
            <a:br/>
            <a:r>
              <a:t>While working with businesses across the GCC, we identified a critical gap in the food industry: food businesses were struggling to generate accurate, regulation-ready food labels. The process was manual, error-prone, and expensive — often requiring nutritionists, designers, and regulatory consultants for a single label.</a:t>
            </a:r>
            <a:br/>
            <a:br/>
            <a:r>
              <a:t>We built RecipeBuilder to solve that problem. By combining our expertise in artificial intelligence and document processing with deep knowledge of GCC food labeling requirements, we created a platform that helps food businesses generate professional, compliant labels in minutes — not weeks.</a:t>
            </a:r>
            <a:br/>
            <a:br/>
            <a:r>
              <a:t>Today, our team has generated over 5,000 food labels approved by Dubai Municipality, and we serve food businesses across the UAE, Saudi Arabia, and the broader GCC region.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920240"/>
            <a:ext cx="3840480" cy="43891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39" y="2103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B1120"/>
                </a:solidFill>
                <a:latin typeface="Calibri"/>
              </a:defRPr>
            </a:pPr>
            <a:r>
              <a:t>Key 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39" y="26517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Founded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59" y="2651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ByteBeam, Dubai UAE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39" y="312724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59" y="31272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Food Technology &amp;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39" y="3602736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3602736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RecipeBuilder SaaS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39" y="4078224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4078224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GCC (UAE, KSA, Bahrain,</a:t>
            </a:r>
            <a:br/>
            <a:r>
              <a:t>Kuwait, Oman, Qatar)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39" y="4553712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Track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45537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5,000+ labels approved by</a:t>
            </a:r>
            <a:br/>
            <a:r>
              <a:t>Dubai Municipality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39" y="502920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5029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20,000+ FDA-sourced</a:t>
            </a:r>
            <a:br/>
            <a:r>
              <a:t>ingredients (USDA FoodData Central)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39" y="5504688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120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550468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75569"/>
                </a:solidFill>
                <a:latin typeface="Calibri"/>
              </a:defRPr>
            </a:pPr>
            <a:r>
              <a:t>English &amp; Arabic</a:t>
            </a:r>
            <a:br/>
            <a:r>
              <a:t>(AI-powered translation)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82FF"/>
                </a:solidFill>
                <a:latin typeface="Calibri"/>
              </a:defRPr>
            </a:pPr>
            <a:r>
              <a:t>TECHNOLOGY &amp; COMPLIANCE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914400" cy="50800"/>
          </a:xfrm>
          <a:prstGeom prst="rect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B1120"/>
                </a:solidFill>
                <a:latin typeface="Calibri"/>
              </a:defRPr>
            </a:pPr>
            <a:r>
              <a:t>Enterprise-Grade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86000"/>
            <a:ext cx="411480" cy="411480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313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120"/>
                </a:solidFill>
                <a:latin typeface="Calibri"/>
              </a:defRPr>
            </a:pPr>
            <a:r>
              <a:t>Cloud-Native SaaS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80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Accessible from anywhere. No installations, no hardware. Enterprise-grade uptime and reliability with automatic updates.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720" y="2286000"/>
            <a:ext cx="411480" cy="411480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313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120"/>
                </a:solidFill>
                <a:latin typeface="Calibri"/>
              </a:defRPr>
            </a:pPr>
            <a:r>
              <a:t>USDA FoodData Central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880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20,000+ ingredients with complete nutritional profiles sourced from the official FDA database. Verified, accurate, and regularly updated.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75320" y="2286000"/>
            <a:ext cx="411480" cy="411480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313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286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120"/>
                </a:solidFill>
                <a:latin typeface="Calibri"/>
              </a:defRPr>
            </a:pPr>
            <a:r>
              <a:t>AI-Powered Translation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80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Automatic English-to-Arabic translation using advanced AI models. Ingredient names, descriptions, and label text — all translated and formatted correctly.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2976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572000"/>
            <a:ext cx="411480" cy="411480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599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120"/>
                </a:solidFill>
                <a:latin typeface="Calibri"/>
              </a:defRPr>
            </a:pPr>
            <a:r>
              <a:t>GCC &amp; SFDA Compliance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166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Labels auto-formatted to meet GCC standards, SFDA requirements, Dubai Municipality guidelines, and GSO specifications.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2976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17720" y="4572000"/>
            <a:ext cx="411480" cy="411480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599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120"/>
                </a:solidFill>
                <a:latin typeface="Calibri"/>
              </a:defRPr>
            </a:pPr>
            <a:r>
              <a:t>Print-Ready Exports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5166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PNG and PDF exports at print resolution. Packaging artwork ready for direct use by printers and packaging suppliers.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2976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75320" y="4572000"/>
            <a:ext cx="411480" cy="411480"/>
          </a:xfrm>
          <a:prstGeom prst="ellipse">
            <a:avLst/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59943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5720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B1120"/>
                </a:solidFill>
                <a:latin typeface="Calibri"/>
              </a:defRPr>
            </a:pPr>
            <a:r>
              <a:t>Secure &amp; Encrypted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516636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Calibri"/>
              </a:defRPr>
            </a:pPr>
            <a:r>
              <a:t>Enterprise-grade encryption for all recipe data, formulations, and business information. Role-based access control and audit logging.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6350" cy="685800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91695" cy="6350"/>
          </a:xfrm>
          <a:prstGeom prst="rect">
            <a:avLst/>
          </a:prstGeom>
          <a:solidFill>
            <a:srgbClr val="15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142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12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03520" y="109728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60" y="1161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RecipeBuilder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86000" y="246888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Ready to streamline your recipe</a:t>
            </a:r>
            <a:br/>
            <a:r>
              <a:t>management &amp; food labeling?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3657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Book a personalized demo and see how RecipeBuilder can help your food</a:t>
            </a:r>
            <a:br/>
            <a:r>
              <a:t>business create compliant labels, track costs, and manage inventory.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4480560"/>
            <a:ext cx="2743200" cy="594360"/>
          </a:xfrm>
          <a:prstGeom prst="roundRect">
            <a:avLst>
              <a:gd name="adj" fmla="val 15000"/>
            </a:avLst>
          </a:prstGeom>
          <a:solidFill>
            <a:srgbClr val="27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45445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Book a Demo 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539496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6888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82FF"/>
                </a:solidFill>
                <a:latin typeface="Calibri"/>
              </a:defRPr>
            </a:pPr>
            <a:r>
              <a:t>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80" y="5687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info@bytebeam.co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539496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82FF"/>
                </a:solidFill>
                <a:latin typeface="Calibri"/>
              </a:defRPr>
            </a:pPr>
            <a:r>
              <a:t>WhatsApp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5687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+971 52 490 2379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539496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131B2E"/>
          </a:solidFill>
          <a:ln w="12700">
            <a:solidFill>
              <a:srgbClr val="1E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55280" y="54406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782FF"/>
                </a:solidFill>
                <a:latin typeface="Calibri"/>
              </a:defRPr>
            </a:pPr>
            <a:r>
              <a:t>Web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80" y="568756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recipebuilder.bytebeam.co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00400" y="63093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ByteBeam  |  Dubai, UAE  |  Riyadh, Saudi Arabia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